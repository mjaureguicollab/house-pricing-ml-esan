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0" r:id="rId17"/>
    <p:sldId id="274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5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393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07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306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Text 2"/>
          <p:cNvSpPr/>
          <p:nvPr/>
        </p:nvSpPr>
        <p:spPr>
          <a:xfrm>
            <a:off x="487154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DEEP LEARNING · TRABAJO </a:t>
            </a:r>
            <a:r>
              <a:rPr lang="en-US" sz="1300" b="1" kern="0" spc="200" dirty="0" smtClean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</a:p>
        </p:txBody>
      </p:sp>
      <p:sp>
        <p:nvSpPr>
          <p:cNvPr id="5" name="Text 3"/>
          <p:cNvSpPr/>
          <p:nvPr/>
        </p:nvSpPr>
        <p:spPr>
          <a:xfrm>
            <a:off x="487154" y="15087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pre-venta de precios de viviendas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87154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apoyo a la tasación inicial, reproducible y explicable, basado en XGBoost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7154" y="3931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1,460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17108" y="4389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viviendas analizadas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78994" y="3931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6022" y="4434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predictores pre-venta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70834" y="3934285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16,205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10926" y="4480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en test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Machine Learning &amp; Deep Learning  ·  Modelo final: XGBoost ajustado  ·  Semilla: 42</a:t>
            </a:r>
            <a:endParaRPr lang="en-US" sz="11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8565406" y="5078862"/>
            <a:ext cx="24436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>
                <a:solidFill>
                  <a:schemeClr val="bg2"/>
                </a:solidFill>
              </a:rPr>
              <a:t>Integrantes grupo 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bg2"/>
                </a:solidFill>
                <a:ea typeface="Cambria" panose="02040503050406030204" pitchFamily="18" charset="0"/>
              </a:rPr>
              <a:t>Maljuf Focacci, Gonzalo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bg2"/>
                </a:solidFill>
                <a:ea typeface="Cambria" panose="02040503050406030204" pitchFamily="18" charset="0"/>
              </a:rPr>
              <a:t>Jauregui Cárdenas, Manuel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bg2"/>
                </a:solidFill>
                <a:ea typeface="Cambria" panose="02040503050406030204" pitchFamily="18" charset="0"/>
              </a:rPr>
              <a:t>Moreno Veramendi, Jordi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bg2"/>
                </a:solidFill>
                <a:ea typeface="Cambria" panose="02040503050406030204" pitchFamily="18" charset="0"/>
              </a:rPr>
              <a:t>Aredo Lulo, Maritza  </a:t>
            </a:r>
          </a:p>
          <a:p>
            <a:endParaRPr lang="es-ES" dirty="0" smtClean="0"/>
          </a:p>
          <a:p>
            <a:endParaRPr lang="es-PE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628145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presentación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negocio y problema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8036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Objetivos, alcance y criterios de éxito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3192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00200" y="393192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calidad y </a:t>
            </a:r>
            <a:r>
              <a:rPr lang="en-US" sz="15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8348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00200" y="498348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experimentos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80760" y="182880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82880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0" y="182880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evaluación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80760" y="288036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88036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32320" y="288036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e impacto de negocio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80760" y="393192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93192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32320" y="393192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Limitaciones, riesgos y conclusiones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 DEL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 de fijar el precio inicial de publicación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inmobiliaria necesita recomendar un precio inicial para cada vivienda. Un precio elevado alarga el tiempo de venta y reduce la probabilidad de cierre; uno demasiado bajo reduce el ingreso del propietario y la comisión. Hoy el proceso depende de comparables manuales y del </a:t>
            </a:r>
            <a:r>
              <a:rPr lang="en-US" sz="1450" dirty="0" err="1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individual de cada analista: es lento e inconsistente.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640080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160520"/>
            <a:ext cx="5852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entrega el sistema: </a:t>
            </a: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referencia cuantitativa, reproducible y explicable del precio de mercado, antes de que se concrete la venta. No reemplaza una tasación profesional ni garantiza el precio de cierre.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60920" y="1600200"/>
            <a:ext cx="429768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¿A quién apoya?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0" y="2331720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7936992" y="22128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de tasación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680960" y="2834640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936992" y="2715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Gerentes comerciales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80960" y="3337560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7936992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inmobiliarios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8096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 que se mejora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80960" y="43891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inicial de publicación y priorización de inmuebles que requieren </a:t>
            </a:r>
            <a:r>
              <a:rPr lang="en-US" sz="13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manual.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OBJETIVOS, ALCANCE Y CRITERIOS DE ÉXITO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 y pasos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modelo de Machine Learning que estime el precio de una vivienda usando exclusivamente información disponible antes de la venta.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F5F7FC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67919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calidad, estructura y faltantes de los datos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55848"/>
            <a:ext cx="457200" cy="457200"/>
          </a:xfrm>
          <a:prstGeom prst="ellipse">
            <a:avLst/>
          </a:prstGeom>
          <a:solidFill>
            <a:srgbClr val="F5F7FC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3375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variables numéricas y categóricas sin fuga de información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14216"/>
            <a:ext cx="457200" cy="457200"/>
          </a:xfrm>
          <a:prstGeom prst="ellipse">
            <a:avLst/>
          </a:prstGeom>
          <a:solidFill>
            <a:srgbClr val="F5F7FC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99592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modelos lineales y no lineales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672584"/>
            <a:ext cx="457200" cy="457200"/>
          </a:xfrm>
          <a:prstGeom prst="ellipse">
            <a:avLst/>
          </a:prstGeom>
          <a:solidFill>
            <a:srgbClr val="F5F7FC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72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654296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el modelo mediante validación y evaluarlo una sola vez en test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330952"/>
            <a:ext cx="457200" cy="457200"/>
          </a:xfrm>
          <a:prstGeom prst="ellipse">
            <a:avLst/>
          </a:prstGeom>
          <a:solidFill>
            <a:srgbClr val="F5F7FC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5312664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resultados técnicos en recomendaciones operativas responsables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OBJETIVOS, ALCANCE Y CRITERIOS DE ÉXITO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definido y criterios para validar el éxito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SalePrice para viviendas representadas por el dataset provisto. Aplicable como apoyo de precio inicial — no como tasación legal, decisión crediticia ni garantía de venta. La generalización a otra ciudad, periodo o mercado exige validación y recalibración previas.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6002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153912" y="17099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Validez pre-venta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53912" y="2075688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de variables post-venta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61120" y="16002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25712" y="17099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25712" y="2075688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en test no usado en selección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31089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53912" y="321868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alternativa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53912" y="3584448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Extra Trees, XGBoost y ensemble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31089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25712" y="321868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25712" y="3584448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variables relevantes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46177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153912" y="472744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operativa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53912" y="5093208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sugerido +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46177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25712" y="472744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25712" y="5093208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fija, código y pipeline documentados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DATOS: CALIDAD Y PREPARACIÓN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43632"/>
            <a:ext cx="527147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 y estructura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2641847"/>
            <a:ext cx="5577840" cy="970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s-ES" sz="1350" dirty="0" smtClean="0">
                <a:solidFill>
                  <a:schemeClr val="tx2">
                    <a:lumMod val="75000"/>
                  </a:schemeClr>
                </a:solidFill>
                <a:ea typeface="DM Sans" pitchFamily="34" charset="-122"/>
                <a:cs typeface="DM Sans" pitchFamily="34" charset="-120"/>
              </a:rPr>
              <a:t>Después </a:t>
            </a:r>
            <a:r>
              <a:rPr lang="es-ES" sz="1350" dirty="0">
                <a:solidFill>
                  <a:schemeClr val="tx2">
                    <a:lumMod val="75000"/>
                  </a:schemeClr>
                </a:solidFill>
                <a:ea typeface="DM Sans" pitchFamily="34" charset="-122"/>
                <a:cs typeface="DM Sans" pitchFamily="34" charset="-120"/>
              </a:rPr>
              <a:t>de eliminar Id, SalePrice y 4 variables post-venta, se trabajó </a:t>
            </a:r>
            <a:r>
              <a:rPr lang="es-ES" sz="1350" dirty="0" smtClean="0">
                <a:solidFill>
                  <a:schemeClr val="tx2">
                    <a:lumMod val="75000"/>
                  </a:schemeClr>
                </a:solidFill>
                <a:ea typeface="DM Sans" pitchFamily="34" charset="-122"/>
                <a:cs typeface="DM Sans" pitchFamily="34" charset="-120"/>
              </a:rPr>
              <a:t>con</a:t>
            </a:r>
            <a:endParaRPr lang="es-ES" sz="13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66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1,460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13234" y="1639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346151" y="2160876"/>
            <a:ext cx="20374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</a:t>
            </a:r>
            <a:r>
              <a:rPr lang="en-US" sz="115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originates, incluyendo Sale Price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2071" y="350355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4021079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predictores pre-venta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12891" y="350355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/ 41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97651" y="3995505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numéricos / categóricos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7231" y="4874598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ES" sz="1350" dirty="0">
                <a:solidFill>
                  <a:schemeClr val="accent1">
                    <a:lumMod val="50000"/>
                  </a:schemeClr>
                </a:solidFill>
              </a:rPr>
              <a:t>Unidad de análisis: una vivienda vendida.</a:t>
            </a:r>
          </a:p>
          <a:p>
            <a:pPr marL="171450" indent="-1714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ES" sz="1350" dirty="0">
                <a:solidFill>
                  <a:schemeClr val="accent1">
                    <a:lumMod val="50000"/>
                  </a:schemeClr>
                </a:solidFill>
              </a:rPr>
              <a:t>Variables principales: tipo de vivienda, área de lote, zonificación, calidad, año de construcción, sótano, garaje, baños, porches, zona y condición física</a:t>
            </a:r>
            <a:r>
              <a:rPr lang="es-ES" sz="1350" dirty="0">
                <a:solidFill>
                  <a:schemeClr val="accent1">
                    <a:lumMod val="50000"/>
                  </a:schemeClr>
                </a:solidFill>
                <a:ea typeface="DM Sans" pitchFamily="34" charset="-122"/>
                <a:cs typeface="DM Sans" pitchFamily="34" charset="-120"/>
              </a:rPr>
              <a:t>.</a:t>
            </a:r>
            <a:endParaRPr lang="en-US" sz="13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73952" y="626364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con mayor porcentaje de valores faltantes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Rectángulo 17"/>
          <p:cNvSpPr/>
          <p:nvPr/>
        </p:nvSpPr>
        <p:spPr>
          <a:xfrm>
            <a:off x="6678112" y="1733045"/>
            <a:ext cx="4440621" cy="3131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s-ES" sz="1350" dirty="0">
                <a:solidFill>
                  <a:schemeClr val="accent1">
                    <a:lumMod val="50000"/>
                  </a:schemeClr>
                </a:solidFill>
              </a:rPr>
              <a:t>Se verificaron identificadores únicos, precios positivos, duplicados y valores faltantes.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s-ES" sz="1350" dirty="0">
                <a:solidFill>
                  <a:schemeClr val="accent1">
                    <a:lumMod val="50000"/>
                  </a:schemeClr>
                </a:solidFill>
              </a:rPr>
              <a:t>Los valores faltantes no se eliminaron automáticamente, ya que en algunas variables representan ausencia real de una característica, como piscina, chimenea, callejón, cerco o garaje.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Variables con mayor proporción de faltantes</a:t>
            </a:r>
          </a:p>
          <a:p>
            <a:pPr marL="680720" lvl="2" indent="-223520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PoolQC: 99.52%</a:t>
            </a:r>
          </a:p>
          <a:p>
            <a:pPr marL="680720" lvl="2" indent="-223520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MiscFeature: 96.30%</a:t>
            </a:r>
          </a:p>
          <a:p>
            <a:pPr marL="680720" lvl="2" indent="-223520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Alley: 93.77%</a:t>
            </a:r>
          </a:p>
          <a:p>
            <a:pPr marL="680720" lvl="2" indent="-223520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Fence: 80.75%</a:t>
            </a:r>
          </a:p>
        </p:txBody>
      </p:sp>
      <p:sp>
        <p:nvSpPr>
          <p:cNvPr id="19" name="Text 1"/>
          <p:cNvSpPr/>
          <p:nvPr/>
        </p:nvSpPr>
        <p:spPr>
          <a:xfrm>
            <a:off x="6843650" y="841248"/>
            <a:ext cx="527147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Calidad de los datos</a:t>
            </a:r>
            <a:endParaRPr lang="en-US" sz="16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422" y="3708929"/>
            <a:ext cx="2579759" cy="2579759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DATOS: CALIDAD Y PREPARACIÓN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4593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</a:t>
            </a:r>
            <a:r>
              <a:rPr lang="en-US" sz="30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528202"/>
              </p:ext>
            </p:extLst>
          </p:nvPr>
        </p:nvGraphicFramePr>
        <p:xfrm>
          <a:off x="548640" y="1985889"/>
          <a:ext cx="11064240" cy="316054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3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r>
                        <a:rPr lang="en-US" sz="120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Numéricas faltantes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noProof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Imputación por mediana de </a:t>
                      </a:r>
                      <a:r>
                        <a:rPr lang="es-ES" sz="1200" kern="1200" noProof="0" dirty="0" err="1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r>
                        <a:rPr lang="es-ES" sz="1200" kern="1200" noProof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</a:t>
                      </a:r>
                      <a:r>
                        <a:rPr lang="es-ES" sz="1200" kern="1200" baseline="0" noProof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s-ES" sz="1200" kern="1200" noProof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 de faltante</a:t>
                      </a:r>
                    </a:p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noProof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mediana es robusta frente a extremos; el indicador permite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noProof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el modelo aprenda si la ausencia contiene señal.</a:t>
                      </a:r>
                      <a:endParaRPr lang="es-ES" sz="1200" kern="1200" noProof="0" dirty="0">
                        <a:solidFill>
                          <a:srgbClr val="3A3F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Categóricas faltantes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'Sin_dato'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Preserva ausencia estructural, como ausencia de garaje 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chimenea</a:t>
                      </a:r>
                      <a:endParaRPr lang="es-ES" sz="1200" kern="1200" dirty="0">
                        <a:solidFill>
                          <a:srgbClr val="3A3F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Encoding + manejo de infrecuentes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 imponer un orden artificial y reduce inestabilidad por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niveles raros</a:t>
                      </a:r>
                      <a:endParaRPr lang="es-ES" sz="1200" kern="1200" dirty="0">
                        <a:solidFill>
                          <a:srgbClr val="3A3F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RobustScaler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sensibilidad a valores extremos en modelos lineales</a:t>
                      </a:r>
                      <a:endParaRPr lang="es-ES" sz="1200" kern="1200" dirty="0">
                        <a:solidFill>
                          <a:srgbClr val="3A3F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</a:t>
                      </a:r>
                      <a:r>
                        <a:rPr lang="es-ES" sz="1200" kern="1200" baseline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constantes</a:t>
                      </a:r>
                      <a:endParaRPr lang="es-ES" sz="1200" kern="1200" dirty="0">
                        <a:solidFill>
                          <a:srgbClr val="3A3F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 variables sin señal predictiva</a:t>
                      </a:r>
                      <a:endParaRPr lang="es-ES" sz="1200" kern="1200" dirty="0">
                        <a:solidFill>
                          <a:srgbClr val="3A3F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log1p(SalePrice)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asimetría positiva y permite optimizar el error relativo</a:t>
                      </a:r>
                      <a:endParaRPr lang="es-ES" sz="1200" kern="1200" dirty="0">
                        <a:solidFill>
                          <a:srgbClr val="3A3F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4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DATOS: CALIDAD Y PREPARACIÓN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4000"/>
              </a:lnSpc>
            </a:pPr>
            <a:r>
              <a:rPr lang="es-E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 variables y Partición de datos 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lnSpc>
                <a:spcPct val="104000"/>
              </a:lnSpc>
            </a:pPr>
            <a:r>
              <a:rPr lang="es-E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 variables 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03454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/>
          <p:nvPr/>
        </p:nvSpPr>
        <p:spPr>
          <a:xfrm>
            <a:off x="480060" y="213055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IsRemodeled: 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Identifica si la vivienda fue remodelada.</a:t>
            </a:r>
          </a:p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205740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3314700" y="215212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TotalSF: 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suma de sótano, primer y segundo piso.</a:t>
            </a:r>
          </a:p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5F7FC"/>
          </a:solidFill>
          <a:ln/>
        </p:spPr>
      </p:sp>
      <p:sp>
        <p:nvSpPr>
          <p:cNvPr id="10" name="Text 8"/>
          <p:cNvSpPr/>
          <p:nvPr/>
        </p:nvSpPr>
        <p:spPr>
          <a:xfrm>
            <a:off x="530860" y="2734056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TotalBath: 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suma de sótano, primer y segundo piso.</a:t>
            </a:r>
          </a:p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37560" y="262432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5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3361202" y="276148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TotalPorchSF: 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Área exterior total de porches y terraza.</a:t>
            </a:r>
          </a:p>
          <a:p>
            <a:pPr marL="0" indent="0" algn="ctr">
              <a:buNone/>
            </a:pP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476131" y="3442285"/>
            <a:ext cx="3171483" cy="493776"/>
          </a:xfrm>
          <a:prstGeom prst="roundRect">
            <a:avLst>
              <a:gd name="adj" fmla="val 50000"/>
            </a:avLst>
          </a:prstGeom>
          <a:solidFill>
            <a:srgbClr val="F5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0613" y="3730752"/>
            <a:ext cx="35425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HasBasement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HasGarage, HasFireplace </a:t>
            </a:r>
          </a:p>
          <a:p>
            <a:pPr algn="ctr"/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HasPool: 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Indicadores de equipamiento</a:t>
            </a:r>
            <a:r>
              <a:rPr lang="es-ES" sz="1400" dirty="0">
                <a:solidFill>
                  <a:srgbClr val="454240"/>
                </a:solidFill>
                <a:latin typeface="DM Sans" pitchFamily="34" charset="0"/>
              </a:rPr>
              <a:t>.</a:t>
            </a:r>
          </a:p>
          <a:p>
            <a:pPr algn="ctr"/>
            <a:endParaRPr lang="en-US" sz="1250" dirty="0"/>
          </a:p>
          <a:p>
            <a:pPr algn="ctr"/>
            <a:endParaRPr lang="en-US" sz="1250" dirty="0"/>
          </a:p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71500" y="420537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lvl="0" indent="-1714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ES" sz="1100" i="1" dirty="0">
                <a:solidFill>
                  <a:schemeClr val="accent1">
                    <a:lumMod val="50000"/>
                  </a:schemeClr>
                </a:solidFill>
                <a:latin typeface="DM Sans" pitchFamily="34" charset="0"/>
              </a:rPr>
              <a:t>MSSubClass se convirtió a texto porque representa un código nominal de tipología, no una magnitud continua</a:t>
            </a:r>
            <a:r>
              <a:rPr lang="es-ES" sz="1100" i="1" dirty="0" smtClean="0">
                <a:solidFill>
                  <a:schemeClr val="accent1">
                    <a:lumMod val="50000"/>
                  </a:schemeClr>
                </a:solidFill>
                <a:latin typeface="DM Sans" pitchFamily="34" charset="0"/>
              </a:rPr>
              <a:t>.</a:t>
            </a:r>
            <a:endParaRPr lang="es-ES" sz="1100" i="1" dirty="0">
              <a:solidFill>
                <a:schemeClr val="accent1">
                  <a:lumMod val="50000"/>
                </a:schemeClr>
              </a:solidFill>
              <a:latin typeface="DM Sans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46520" y="16687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Partición </a:t>
            </a:r>
            <a:r>
              <a:rPr lang="es-E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prevención de </a:t>
            </a:r>
            <a:r>
              <a:rPr lang="es-ES" sz="16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fuga</a:t>
            </a:r>
          </a:p>
          <a:p>
            <a:endParaRPr lang="es-ES" sz="1200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ES" sz="1200" dirty="0" smtClean="0">
                <a:solidFill>
                  <a:schemeClr val="accent1">
                    <a:lumMod val="50000"/>
                  </a:schemeClr>
                </a:solidFill>
              </a:rPr>
              <a:t>La 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muestra se dividió estratificando por deciles de precio: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6520" y="2149621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1031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38160" y="21031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0" y="21031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66960" y="21031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46520" y="306324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0175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38160" y="30175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0" y="30175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66960" y="30175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modelo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46520" y="397764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39319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38160" y="39319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0" y="39319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966960" y="39319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final única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38" name="Imagen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METODOLOGÍA Y EXPERIMENTOS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Machine Learning y qué modelos se compararon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eligió Machine Learning para datos tabulares. Deep Learning no se justificó: la muestra es moderada, los predictores son estructurados y los modelos de árboles ofrecen mejor relación entre desempeño, complejidad e interpretabilidad.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lineal regularizada para variables One-Hot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27889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971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4023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no lineal que captura interacciones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7889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971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A24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4023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principal de gradient boosting para datos tabulares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15400" y="27889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2971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90982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9828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ponderado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98280" y="4023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de XGBoost, Extra Trees y Ridge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fino de XGBoost:  </a:t>
            </a: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configuraciones evaluadas de learning_rate, max_depth, min_child_weight, subsample, colsample_bytree, reg_lambda y reg_alpha, con early stopping para </a:t>
            </a:r>
            <a:r>
              <a:rPr lang="en-US" sz="1250" dirty="0" err="1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</a:t>
            </a: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sobreajuste.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configuración: learning_rate=0.05 · max_depth=3 · min_child_weight=3 · subsample=0.75 · colsample_bytree=0.70 · reg_lambda=1.0 · reg_alpha=0.05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METODOLOGÍA Y EXPERIMENTOS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coherentes con el costo del error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primaria: error proporcional, coherente con log1p(SalePrice)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promedio en dólares, directamente interpretable por negocio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77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mayor peso a errores grandes, relevante en inmuebles de alto valor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7947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977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Sesgo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44805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sobreestimación o subestimación media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RESULTADOS Y EVALUACIÓN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Desempeño en validación: XGBoost lidera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8640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(USD)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(USD)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Sesgo (USD)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ajustado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13,397.73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19,731.16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205.29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ponderado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13,397.73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19,731.16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205.29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17,031.37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24,542.08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-1,152.26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Trees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17,115.15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25,140.86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-1,800.15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y el ensemble empataron en RMSLE. Se eligió XGBoost porque presentó MAE y RMSE marginalmente menores, sin la complejidad operativa adicional del ensemble.</a:t>
            </a:r>
            <a:endParaRPr lang="en-US" sz="1250" dirty="0"/>
          </a:p>
        </p:txBody>
      </p:sp>
      <p:pic>
        <p:nvPicPr>
          <p:cNvPr id="6" name="Image 0" descr="/home/claude/nb_extract/img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5303520" cy="3063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55080" y="4709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RMSLE en validación por modelo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RESULTADOS Y EVALUACIÓN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final en test (una sola vez)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32C6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013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16,205.48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313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8013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28,249.16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29000" y="2313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32C6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0358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0.1437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3547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92608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32C63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30358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-USD 869.15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29000" y="3547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generaliza con error relativo moderado. El RMSE superior al MAE indica algunos errores grandes: se requieren controles para inmuebles de alto valor o atributos poco frecuentes. El sesgo negativo es leve frente al MAE, pero debe monitorearse.</a:t>
            </a:r>
            <a:endParaRPr lang="en-US" sz="1250" dirty="0"/>
          </a:p>
        </p:txBody>
      </p:sp>
      <p:pic>
        <p:nvPicPr>
          <p:cNvPr id="17" name="Image 0" descr="/home/claude/nb_extract/img_4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2880360" cy="2834640"/>
          </a:xfrm>
          <a:prstGeom prst="rect">
            <a:avLst/>
          </a:prstGeom>
        </p:spPr>
      </p:pic>
      <p:pic>
        <p:nvPicPr>
          <p:cNvPr id="18" name="Image 1" descr="/home/claude/nb_extract/img_4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691640"/>
            <a:ext cx="2880360" cy="2834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172200" y="45262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real vs. predicho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9052560" y="45262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vs. predicción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INTERPRETACIÓN E IMPACTO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explica el precio: variables más relevantes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C9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OverallQual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83280" y="16459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global es la señal más importante de precio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C9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26771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TotalSF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83280" y="226771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superficie total se asocia con mayor valor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8950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C9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88950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HasFireplace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83280" y="288950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Equipamiento y segmento de calidad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1129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C9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51129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ExterQual_TA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83280" y="351129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exterior diferencia segmentos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13308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C9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413308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KitchenQual_TA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83280" y="41330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 resume calidad de terminaciones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9204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importancias son predictivas, no causales: no implican que modificar un atributo genere necesariamente el mismo cambio de precio.</a:t>
            </a:r>
            <a:endParaRPr lang="en-US" sz="1150" dirty="0"/>
          </a:p>
        </p:txBody>
      </p:sp>
      <p:pic>
        <p:nvPicPr>
          <p:cNvPr id="21" name="Image 0" descr="/home/claude/nb_extract/img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17320"/>
            <a:ext cx="5212080" cy="45262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INTERPRETACIÓN E IMPACTO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accionables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4708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47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Asistente, no automatismo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XGBoost como apoyo de tasación, no como precio automático definitivo.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84708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47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operativo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49440" y="21488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predicción central ± MAE de test (≈ USD 16,205) como rango inicial.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35584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9A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291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humana obligatoria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71600" y="36576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inmuebles de alto valor, categorías raras, faltantes críticos o valores atípicos.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15468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335584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9A24B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3291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 tasación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49440" y="36576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calidad global, superficie, cocina, calidad exterior, baños, garaje y sótano.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86460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9A24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64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8006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continuo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71600" y="516636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mensual de MAE, RMSE, RMSLE y sesgo por zona y cuartil de precio.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31" name="Imagen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681728"/>
            <a:ext cx="5536095" cy="1836603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INTERPRETACIÓN E IMPACTO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Medición de impacto 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805486"/>
              </p:ext>
            </p:extLst>
          </p:nvPr>
        </p:nvGraphicFramePr>
        <p:xfrm>
          <a:off x="1758462" y="1770341"/>
          <a:ext cx="8768862" cy="2691540"/>
        </p:xfrm>
        <a:graphic>
          <a:graphicData uri="http://schemas.openxmlformats.org/drawingml/2006/table">
            <a:tbl>
              <a:tblPr/>
              <a:tblGrid>
                <a:gridCol w="1723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1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4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3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 de éxito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smtClean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y RMSLE contra precios observaciones 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Mejorar frente al proceso manual histórico 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Productividad 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 por tasación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Reducir tiempo</a:t>
                      </a:r>
                      <a:r>
                        <a:rPr lang="en-US" sz="1250" baseline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sin empeorar precisión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 humana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remitidos analista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Concentrar revision en casos de riesgo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Equidad</a:t>
                      </a:r>
                      <a:r>
                        <a:rPr lang="en-US" sz="1250" baseline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desempeño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por zona y precio 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degrader sistemáticamente un segment 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442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LIMITACIONES, RIESGOS Y 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gestión de riesgos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un mercado y periodo específicos; requieren recalibración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1,460 observaciones pueden subrepresentar casos raros o excepcionales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455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observan urgencia, negociación, fotos, tasas ni condiciones financieras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1246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rango basado en MAE es una guía operativa, no un intervalo estadístico formal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7939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importancia de variables no implica causalidad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mitigaciones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2011680"/>
            <a:ext cx="5303520" cy="65836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0116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Sobreajuste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75320" y="201168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Validación/test aislados y monitoreo de brechas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2788920"/>
            <a:ext cx="5303520" cy="65836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78892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de mercado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75320" y="278892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mensual y reentrenamiento validado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3566160"/>
            <a:ext cx="5303520" cy="65836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56616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extremos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75320" y="356616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obligatorio a experto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4343400"/>
            <a:ext cx="5303520" cy="65836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34340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de información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75320" y="43434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exclusión de variables post-venta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5120640"/>
            <a:ext cx="5303520" cy="65836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51206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excesiva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75320" y="512064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y trazabilidad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4"/>
          <p:cNvSpPr/>
          <p:nvPr/>
        </p:nvSpPr>
        <p:spPr>
          <a:xfrm>
            <a:off x="548636" y="3815145"/>
            <a:ext cx="7899791" cy="71375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35" name="Shape 14"/>
          <p:cNvSpPr/>
          <p:nvPr/>
        </p:nvSpPr>
        <p:spPr>
          <a:xfrm>
            <a:off x="548640" y="2765372"/>
            <a:ext cx="7899791" cy="71375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34" name="Shape 14"/>
          <p:cNvSpPr/>
          <p:nvPr/>
        </p:nvSpPr>
        <p:spPr>
          <a:xfrm>
            <a:off x="548637" y="4822728"/>
            <a:ext cx="7899791" cy="71375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33" name="Shape 14"/>
          <p:cNvSpPr/>
          <p:nvPr/>
        </p:nvSpPr>
        <p:spPr>
          <a:xfrm>
            <a:off x="548639" y="1935715"/>
            <a:ext cx="7899791" cy="71375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LIMITACIONES, RIESGOS Y 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gestión de riesgos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5566"/>
            <a:ext cx="5303520" cy="302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PE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 y despliegue responsable</a:t>
            </a:r>
            <a:endParaRPr lang="en-US" sz="1600" b="1" dirty="0">
              <a:solidFill>
                <a:srgbClr val="1E276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 flipH="1">
            <a:off x="624253" y="2174238"/>
            <a:ext cx="91440" cy="96013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745586" y="2109977"/>
            <a:ext cx="7505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Prevención de sesgos e inclusión: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 La zonificación no debe generar discriminación; por ello, se debe monitorear el sesgo por zona, tipo de propiedad y precio, prohibiendo su uso en decisiones crediticias o de exclusión.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28746" y="2996301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98745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Alcance exclusivamente asistencial: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 El modelo es solo una herramienta de apoyo limitada a recomendar precios y priorizar revisiones, no un decisor autónomo.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 flipV="1">
            <a:off x="635682" y="3926657"/>
            <a:ext cx="91440" cy="10006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715693" y="38271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Control y supervisión humana: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 Requiere un registro histórico (versionado) de datos y modelos, trazabilidad de predicciones y ajustes humanos, junto con umbrales para revisiones obligatorias.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 flipV="1">
            <a:off x="651510" y="4955203"/>
            <a:ext cx="80010" cy="85881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715693" y="4848425"/>
            <a:ext cx="69119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Transparencia en las expectativas: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 Se debe comunicar de forma explícita que las salidas del sistema son estimaciones y no garantizan una venta.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593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LIMITACIONES, RIESGOS Y 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11480" cy="411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70992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00" dirty="0">
                <a:solidFill>
                  <a:schemeClr val="bg1"/>
                </a:solidFill>
              </a:rPr>
              <a:t>Se desarrolló un sistema de valoración pre-venta que utiliza únicamente información disponible antes de la transacción, evitando la fuga de información.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411480" cy="411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95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368296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00" dirty="0">
                <a:solidFill>
                  <a:schemeClr val="bg1"/>
                </a:solidFill>
              </a:rPr>
              <a:t>El proceso de preparación de datos fue reproducible, utilizando 75 predictores pre-venta y manteniendo una adecuada separación entre entrenamiento, validación y prueba.</a:t>
            </a:r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411480" cy="411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54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02666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00" dirty="0" err="1">
                <a:solidFill>
                  <a:schemeClr val="bg1"/>
                </a:solidFill>
              </a:rPr>
              <a:t>XGBoost</a:t>
            </a:r>
            <a:r>
              <a:rPr lang="es-ES" sz="1200" dirty="0">
                <a:solidFill>
                  <a:schemeClr val="bg1"/>
                </a:solidFill>
              </a:rPr>
              <a:t> ajustado fue seleccionado por ofrecer un buen equilibrio entre desempeño y simplicidad, con resultados competitivos frente al </a:t>
            </a:r>
            <a:r>
              <a:rPr lang="es-ES" sz="1200" dirty="0" err="1">
                <a:solidFill>
                  <a:schemeClr val="bg1"/>
                </a:solidFill>
              </a:rPr>
              <a:t>ensemble</a:t>
            </a:r>
            <a:r>
              <a:rPr lang="es-E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411480" cy="411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124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68503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00" dirty="0">
                <a:solidFill>
                  <a:schemeClr val="bg1"/>
                </a:solidFill>
              </a:rPr>
              <a:t>En el conjunto de prueba, el modelo obtuvo MAE de USD 16,205.48, RMSE de USD 28,249.16, RMSLE de 0.143691 y sesgo de -USD 869.15, mostrando una estimación con bajo sesgo promedio, es decir, el modelo no acierta exactamente el precio de cada vivienda, pero sus predicciones están razonablemente cerca y no presenta una tendencia fuerte a inflar o reducir sistemáticamente los precios.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411480" cy="411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70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3434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00" dirty="0">
                <a:solidFill>
                  <a:schemeClr val="bg1"/>
                </a:solidFill>
              </a:rPr>
              <a:t>La solución permite apoyar la fijación del precio inicial y priorizar inmuebles que requieren revisión manual, aportando una referencia cuantitativa, reproducible y explicable.</a:t>
            </a:r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411480" cy="411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29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00176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00" dirty="0">
                <a:solidFill>
                  <a:schemeClr val="bg1"/>
                </a:solidFill>
              </a:rPr>
              <a:t>El modelo complementa, pero no reemplaza, el criterio profesional ni garantiza el precio final de venta. Como siguiente paso, se recomienda realizar un piloto controlado y establecer un monitoreo periódico del desempeño.</a:t>
            </a:r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2037</Words>
  <Application>Microsoft Office PowerPoint</Application>
  <PresentationFormat>Panorámica</PresentationFormat>
  <Paragraphs>357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DM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Maritza Aredo</cp:lastModifiedBy>
  <cp:revision>14</cp:revision>
  <dcterms:created xsi:type="dcterms:W3CDTF">2026-08-13T05:06:24Z</dcterms:created>
  <dcterms:modified xsi:type="dcterms:W3CDTF">2026-08-13T23:11:17Z</dcterms:modified>
</cp:coreProperties>
</file>